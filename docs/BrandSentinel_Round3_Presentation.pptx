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BrandSentinel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DDE6FF"/>
                </a:solidFill>
                <a:latin typeface="Calibri"/>
              </a:rPr>
              <a:t>Check content against approved brand sources before it is published, explain every finding, and keep humans in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A524"/>
                </a:solidFill>
                <a:latin typeface="Calibri"/>
              </a:rPr>
              <a:t>Inkloom AI challenge · Round 3: The Finish · Team: [add names]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problem: guidelines exist, enforcement doesn’t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BrandSentinel · Round 3 · sample brand “Lumora” is fictional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2000">
                <a:solidFill>
                  <a:srgbClr val="0B1F4D"/>
                </a:solidFill>
                <a:latin typeface="Calibri"/>
              </a:rPr>
              <a:t>81% </a:t>
            </a:r>
            <a:r>
              <a:rPr sz="2000">
                <a:solidFill>
                  <a:srgbClr val="1A1A1A"/>
                </a:solidFill>
                <a:latin typeface="Calibri"/>
              </a:rPr>
              <a:t>of companies deal with off-brand content; 85% have guidelines but about 30% consistently enforce them (Marq / Lucidpress, vendor-published).</a:t>
            </a:r>
          </a:p>
          <a:p>
            <a:pPr>
              <a:spcAft>
                <a:spcPts val="1400"/>
              </a:spcAft>
            </a:pPr>
            <a:r>
              <a:rPr b="1" sz="2000">
                <a:solidFill>
                  <a:srgbClr val="0B1F4D"/>
                </a:solidFill>
                <a:latin typeface="Calibri"/>
              </a:rPr>
              <a:t>36.5% </a:t>
            </a:r>
            <a:r>
              <a:rPr sz="2000">
                <a:solidFill>
                  <a:srgbClr val="1A1A1A"/>
                </a:solidFill>
                <a:latin typeface="Calibri"/>
              </a:rPr>
              <a:t>of surveyed marketers say hallucinated or incorrect AI content has already gone public (NP Digital, 565 marketers).</a:t>
            </a:r>
          </a:p>
          <a:p>
            <a:pPr>
              <a:spcAft>
                <a:spcPts val="1400"/>
              </a:spcAft>
            </a:pPr>
            <a:r>
              <a:rPr b="1" sz="2000">
                <a:solidFill>
                  <a:srgbClr val="0B1F4D"/>
                </a:solidFill>
                <a:latin typeface="Calibri"/>
              </a:rPr>
              <a:t>94.8% </a:t>
            </a:r>
            <a:r>
              <a:rPr sz="2000">
                <a:solidFill>
                  <a:srgbClr val="1A1A1A"/>
                </a:solidFill>
                <a:latin typeface="Calibri"/>
              </a:rPr>
              <a:t>of home pages have detectable WCAG 2 failures (WebAIM Million 2025).</a:t>
            </a:r>
          </a:p>
          <a:p>
            <a:pPr>
              <a:spcAft>
                <a:spcPts val="1400"/>
              </a:spcAft>
            </a:pPr>
            <a:r>
              <a:rPr b="1" sz="2000">
                <a:solidFill>
                  <a:srgbClr val="0B1F4D"/>
                </a:solidFill>
                <a:latin typeface="Calibri"/>
              </a:rPr>
              <a:t>10,093 </a:t>
            </a:r>
            <a:r>
              <a:rPr sz="2000">
                <a:solidFill>
                  <a:srgbClr val="1A1A1A"/>
                </a:solidFill>
                <a:latin typeface="Calibri"/>
              </a:rPr>
              <a:t>advertising complaints examined by India’s ASCI in 2023-24; unsupported claims and missing disclaimers recur.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371600"/>
            <a:ext cx="3840480" cy="3291840"/>
          </a:xfrm>
          <a:prstGeom prst="rect">
            <a:avLst/>
          </a:prstGeom>
          <a:solidFill>
            <a:srgbClr val="F4F6FB"/>
          </a:solidFill>
          <a:ln>
            <a:solidFill>
              <a:srgbClr val="1F4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508760"/>
            <a:ext cx="34747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B1F4D"/>
                </a:solidFill>
                <a:latin typeface="Calibri"/>
              </a:rPr>
              <a:t>Content now comes from employees, agencies and AI tools. The first reviewer is often the public.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Several statistics are vendor-published or second-hand; verify at source before relying on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Who it is for, and 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BrandSentinel · Round 3 · sample brand “Lumora” is fictional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900">
                <a:solidFill>
                  <a:srgbClr val="0B1F4D"/>
                </a:solidFill>
                <a:latin typeface="Calibri"/>
              </a:rPr>
              <a:t>Creators </a:t>
            </a:r>
            <a:r>
              <a:rPr sz="1900">
                <a:solidFill>
                  <a:srgbClr val="1A1A1A"/>
                </a:solidFill>
                <a:latin typeface="Calibri"/>
              </a:rPr>
              <a:t>get instant, explained feedback instead of vague late rejections.</a:t>
            </a:r>
          </a:p>
          <a:p>
            <a:pPr>
              <a:spcAft>
                <a:spcPts val="1200"/>
              </a:spcAft>
            </a:pPr>
            <a:r>
              <a:rPr b="1" sz="1900">
                <a:solidFill>
                  <a:srgbClr val="0B1F4D"/>
                </a:solidFill>
                <a:latin typeface="Calibri"/>
              </a:rPr>
              <a:t>Reviewers </a:t>
            </a:r>
            <a:r>
              <a:rPr sz="1900">
                <a:solidFill>
                  <a:srgbClr val="1A1A1A"/>
                </a:solidFill>
                <a:latin typeface="Calibri"/>
              </a:rPr>
              <a:t>check claims against approved facts, not memory.</a:t>
            </a:r>
          </a:p>
          <a:p>
            <a:pPr>
              <a:spcAft>
                <a:spcPts val="1200"/>
              </a:spcAft>
            </a:pPr>
            <a:r>
              <a:rPr b="1" sz="1900">
                <a:solidFill>
                  <a:srgbClr val="0B1F4D"/>
                </a:solidFill>
                <a:latin typeface="Calibri"/>
              </a:rPr>
              <a:t>Managers </a:t>
            </a:r>
            <a:r>
              <a:rPr sz="1900">
                <a:solidFill>
                  <a:srgbClr val="1A1A1A"/>
                </a:solidFill>
                <a:latin typeface="Calibri"/>
              </a:rPr>
              <a:t>approve with a trail and see where mistakes repeat.</a:t>
            </a:r>
          </a:p>
          <a:p>
            <a:pPr>
              <a:spcAft>
                <a:spcPts val="1200"/>
              </a:spcAft>
            </a:pPr>
            <a:r>
              <a:rPr b="1" sz="1900">
                <a:solidFill>
                  <a:srgbClr val="0B1F4D"/>
                </a:solidFill>
                <a:latin typeface="Calibri"/>
              </a:rPr>
              <a:t>Guideline owners </a:t>
            </a:r>
            <a:r>
              <a:rPr sz="1900">
                <a:solidFill>
                  <a:srgbClr val="1A1A1A"/>
                </a:solidFill>
                <a:latin typeface="Calibri"/>
              </a:rPr>
              <a:t>learn which rules are unclear or disputed.</a:t>
            </a:r>
          </a:p>
          <a:p>
            <a:pPr>
              <a:spcAft>
                <a:spcPts val="1200"/>
              </a:spcAft>
            </a:pPr>
            <a:r>
              <a:rPr b="1" sz="1900">
                <a:solidFill>
                  <a:srgbClr val="0B1F4D"/>
                </a:solidFill>
                <a:latin typeface="Calibri"/>
              </a:rPr>
              <a:t>Admins </a:t>
            </a:r>
            <a:r>
              <a:rPr sz="1900">
                <a:solidFill>
                  <a:srgbClr val="1A1A1A"/>
                </a:solidFill>
                <a:latin typeface="Calibri"/>
              </a:rPr>
              <a:t>control the brand kit, access and AI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900">
                <a:solidFill>
                  <a:srgbClr val="0B1F4D"/>
                </a:solidFill>
                <a:latin typeface="Calibri"/>
              </a:rPr>
              <a:t>Grounded: </a:t>
            </a:r>
            <a:r>
              <a:rPr sz="1900">
                <a:solidFill>
                  <a:srgbClr val="1A1A1A"/>
                </a:solidFill>
                <a:latin typeface="Calibri"/>
              </a:rPr>
              <a:t>every finding names the guideline or approved fact behind it.</a:t>
            </a:r>
          </a:p>
          <a:p>
            <a:pPr>
              <a:spcAft>
                <a:spcPts val="1200"/>
              </a:spcAft>
            </a:pPr>
            <a:r>
              <a:rPr b="1" sz="1900">
                <a:solidFill>
                  <a:srgbClr val="0B1F4D"/>
                </a:solidFill>
                <a:latin typeface="Calibri"/>
              </a:rPr>
              <a:t>Explained: </a:t>
            </a:r>
            <a:r>
              <a:rPr sz="1900">
                <a:solidFill>
                  <a:srgbClr val="1A1A1A"/>
                </a:solidFill>
                <a:latin typeface="Calibri"/>
              </a:rPr>
              <a:t>quoted evidence, a plain reason, a minimal suggested fix.</a:t>
            </a:r>
          </a:p>
          <a:p>
            <a:pPr>
              <a:spcAft>
                <a:spcPts val="1200"/>
              </a:spcAft>
            </a:pPr>
            <a:r>
              <a:rPr b="1" sz="1900">
                <a:solidFill>
                  <a:srgbClr val="0B1F4D"/>
                </a:solidFill>
                <a:latin typeface="Calibri"/>
              </a:rPr>
              <a:t>Human-controlled: </a:t>
            </a:r>
            <a:r>
              <a:rPr sz="1900">
                <a:solidFill>
                  <a:srgbClr val="1A1A1A"/>
                </a:solidFill>
                <a:latin typeface="Calibri"/>
              </a:rPr>
              <a:t>nothing is applied automatically; high-severity findings block approval unless a manager records an override.</a:t>
            </a:r>
          </a:p>
          <a:p>
            <a:pPr>
              <a:spcAft>
                <a:spcPts val="1200"/>
              </a:spcAft>
            </a:pPr>
            <a:r>
              <a:rPr b="1" sz="1900">
                <a:solidFill>
                  <a:srgbClr val="0B1F4D"/>
                </a:solidFill>
                <a:latin typeface="Calibri"/>
              </a:rPr>
              <a:t>Learning: </a:t>
            </a:r>
            <a:r>
              <a:rPr sz="1900">
                <a:solidFill>
                  <a:srgbClr val="1A1A1A"/>
                </a:solidFill>
                <a:latin typeface="Calibri"/>
              </a:rPr>
              <a:t>repeated issues and dismissal rates feed an Insights page.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product: sourced, explained, opt-in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BrandSentinel · Round 3 · sample brand “Lumora” is fictional</a:t>
            </a:r>
          </a:p>
        </p:txBody>
      </p:sp>
      <p:pic>
        <p:nvPicPr>
          <p:cNvPr id="6" name="Picture 5" descr="f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223760" cy="50792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280160"/>
            <a:ext cx="3474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Highlights on the draft link to findings.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Each finding cites its source (e.g. G-NAME, FACT-UPTIME).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Claims panel: supported, contradicts, outdated, unverified.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Accept, edit or dismiss with a recorded reason.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Review workflow with roles and an 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BrandSentinel · Round 3 · sample brand “Lumora” is fictional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463040" cy="822960"/>
          </a:xfrm>
          <a:prstGeom prst="rect">
            <a:avLst/>
          </a:prstGeom>
          <a:solidFill>
            <a:srgbClr val="F4F6FB"/>
          </a:solidFill>
          <a:ln>
            <a:solidFill>
              <a:srgbClr val="1F4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B1F4D"/>
                </a:solidFill>
                <a:latin typeface="Calibri"/>
              </a:rPr>
              <a:t>Submit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2848" y="1371600"/>
            <a:ext cx="1463040" cy="822960"/>
          </a:xfrm>
          <a:prstGeom prst="rect">
            <a:avLst/>
          </a:prstGeom>
          <a:solidFill>
            <a:srgbClr val="F4F6FB"/>
          </a:solidFill>
          <a:ln>
            <a:solidFill>
              <a:srgbClr val="1F4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B1F4D"/>
                </a:solidFill>
                <a:latin typeface="Calibri"/>
              </a:rPr>
              <a:t>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877056" y="1371600"/>
            <a:ext cx="1463040" cy="822960"/>
          </a:xfrm>
          <a:prstGeom prst="rect">
            <a:avLst/>
          </a:prstGeom>
          <a:solidFill>
            <a:srgbClr val="F4F6FB"/>
          </a:solidFill>
          <a:ln>
            <a:solidFill>
              <a:srgbClr val="1F4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B1F4D"/>
                </a:solidFill>
                <a:latin typeface="Calibri"/>
              </a:rPr>
              <a:t>Explain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541264" y="1371600"/>
            <a:ext cx="1463040" cy="822960"/>
          </a:xfrm>
          <a:prstGeom prst="rect">
            <a:avLst/>
          </a:prstGeom>
          <a:solidFill>
            <a:srgbClr val="1F4FD8"/>
          </a:solidFill>
          <a:ln>
            <a:solidFill>
              <a:srgbClr val="1F4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Creator decides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5472" y="1371600"/>
            <a:ext cx="1463040" cy="822960"/>
          </a:xfrm>
          <a:prstGeom prst="rect">
            <a:avLst/>
          </a:prstGeom>
          <a:solidFill>
            <a:srgbClr val="F4F6FB"/>
          </a:solidFill>
          <a:ln>
            <a:solidFill>
              <a:srgbClr val="1F4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B1F4D"/>
                </a:solidFill>
                <a:latin typeface="Calibri"/>
              </a:rPr>
              <a:t>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1371600"/>
            <a:ext cx="1463040" cy="822960"/>
          </a:xfrm>
          <a:prstGeom prst="rect">
            <a:avLst/>
          </a:prstGeom>
          <a:solidFill>
            <a:srgbClr val="1F4FD8"/>
          </a:solidFill>
          <a:ln>
            <a:solidFill>
              <a:srgbClr val="1F4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Approve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33888" y="1371600"/>
            <a:ext cx="1463040" cy="822960"/>
          </a:xfrm>
          <a:prstGeom prst="rect">
            <a:avLst/>
          </a:prstGeom>
          <a:solidFill>
            <a:srgbClr val="F4F6FB"/>
          </a:solidFill>
          <a:ln>
            <a:solidFill>
              <a:srgbClr val="1F4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B1F4D"/>
                </a:solidFill>
                <a:latin typeface="Calibri"/>
              </a:rPr>
              <a:t>Publish</a:t>
            </a:r>
          </a:p>
        </p:txBody>
      </p:sp>
      <p:pic>
        <p:nvPicPr>
          <p:cNvPr id="13" name="Picture 12" descr="appro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880"/>
            <a:ext cx="6400800" cy="38004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4688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Reviewers can request changes with a required comment.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Approving with open high-severity findings is refused; a manager can override with a reason, which is logged.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Authors cannot review their own work.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Editing after approval creates a new revision; every action is in the audit log.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Insights: repeated mistakes and unclear guidelines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A5568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BrandSentinel · Round 3 · sample brand “Lumora” is fictional</a:t>
            </a:r>
          </a:p>
        </p:txBody>
      </p:sp>
      <p:pic>
        <p:nvPicPr>
          <p:cNvPr id="6" name="Picture 5" descr="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5257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128016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Rules ranked by how often first drafts break them, by item and team.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Accepted vs dismissed counts per rule; a high dismissal rate signals a possibly unclear or too-strict guideline.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Demo data is synthetic: it shows the mechanism, not the size of a real effect.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Technology and responsible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A5568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BrandSentinel · Round 3 · sample brand “Lumora” is fictional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700">
                <a:solidFill>
                  <a:srgbClr val="0B1F4D"/>
                </a:solidFill>
                <a:latin typeface="Calibri"/>
              </a:rPr>
              <a:t>Stack: </a:t>
            </a:r>
            <a:r>
              <a:rPr sz="1700">
                <a:solidFill>
                  <a:srgbClr val="1A1A1A"/>
                </a:solidFill>
                <a:latin typeface="Calibri"/>
              </a:rPr>
              <a:t>Python standard library server, SQLite, vanilla JavaScript, JSON brand kit, Dockerfile. No third-party runtime packages.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0B1F4D"/>
                </a:solidFill>
                <a:latin typeface="Calibri"/>
              </a:rPr>
              <a:t>Formats: </a:t>
            </a:r>
            <a:r>
              <a:rPr sz="1700">
                <a:solidFill>
                  <a:srgbClr val="1A1A1A"/>
                </a:solidFill>
                <a:latin typeface="Calibri"/>
              </a:rPr>
              <a:t>text, Markdown, HTML, .docx, PNG/JPG/SVG.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0B1F4D"/>
                </a:solidFill>
                <a:latin typeface="Calibri"/>
              </a:rPr>
              <a:t>Checks: </a:t>
            </a:r>
            <a:r>
              <a:rPr sz="1700">
                <a:solidFill>
                  <a:srgbClr val="1A1A1A"/>
                </a:solidFill>
                <a:latin typeface="Calibri"/>
              </a:rPr>
              <a:t>terminology, tone, claims vs approved facts (with expiry), offer terms, alt text, link text, WCAG contrast, palette, logo, image size.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0B1F4D"/>
                </a:solidFill>
                <a:latin typeface="Calibri"/>
              </a:rPr>
              <a:t>Deviation from plan: </a:t>
            </a:r>
            <a:r>
              <a:rPr sz="1700">
                <a:solidFill>
                  <a:srgbClr val="1A1A1A"/>
                </a:solidFill>
                <a:latin typeface="Calibri"/>
              </a:rPr>
              <a:t>Round 1 proposed React, FastAPI and Postgres; the MVP is dependency-free so it runs anywhere.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700">
                <a:solidFill>
                  <a:srgbClr val="0B1F4D"/>
                </a:solidFill>
                <a:latin typeface="Calibri"/>
              </a:rPr>
              <a:t>No external AI by default. </a:t>
            </a:r>
            <a:r>
              <a:rPr sz="1700">
                <a:solidFill>
                  <a:srgbClr val="1A1A1A"/>
                </a:solidFill>
                <a:latin typeface="Calibri"/>
              </a:rPr>
              <a:t>Checks run locally; an optional external-AI module is off unless explicitly enabled and is labelled in the UI.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0B1F4D"/>
                </a:solidFill>
                <a:latin typeface="Calibri"/>
              </a:rPr>
              <a:t>Security: </a:t>
            </a:r>
            <a:r>
              <a:rPr sz="1700">
                <a:solidFill>
                  <a:srgbClr val="1A1A1A"/>
                </a:solidFill>
                <a:latin typeface="Calibri"/>
              </a:rPr>
              <a:t>role-based access, login throttling, strict Content-Security-Policy, input validation, audit log.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0B1F4D"/>
                </a:solidFill>
                <a:latin typeface="Calibri"/>
              </a:rPr>
              <a:t>Accessibility: </a:t>
            </a:r>
            <a:r>
              <a:rPr sz="1700">
                <a:solidFill>
                  <a:srgbClr val="1A1A1A"/>
                </a:solidFill>
                <a:latin typeface="Calibri"/>
              </a:rPr>
              <a:t>keyboard focus styles, labelled controls, live-region messages, no horizontal scroll at 390px.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0B1F4D"/>
                </a:solidFill>
                <a:latin typeface="Calibri"/>
              </a:rPr>
              <a:t>Honest limits: </a:t>
            </a:r>
            <a:r>
              <a:rPr sz="1700">
                <a:solidFill>
                  <a:srgbClr val="1A1A1A"/>
                </a:solidFill>
                <a:latin typeface="Calibri"/>
              </a:rPr>
              <a:t>automated checks catch only part of WCAG; the product does not certify compliance.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Evidence of testing and what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A5568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BrandSentinel · Round 3 · sample brand “Lumora” is fictional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4D"/>
                </a:solidFill>
                <a:latin typeface="Calibri"/>
              </a:rPr>
              <a:t>Automated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28016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47 passing (28 engine, 19 API and workflow)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4D"/>
                </a:solidFill>
                <a:latin typeface="Calibri"/>
              </a:rPr>
              <a:t>Rules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05740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Dev set: 36/36 found, 0 false alarms. Held-out: 7/7, 0 false alarms.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4D"/>
                </a:solidFill>
                <a:latin typeface="Calibri"/>
              </a:rPr>
              <a:t>Browser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83464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Scripted Chromium run of the full workflow; 15 of 16 checks passed first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4D"/>
                </a:solidFill>
                <a:latin typeface="Calibri"/>
              </a:rPr>
              <a:t>Defect 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61188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Pages scrolled sideways at 390px; fixed and re-measured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4D"/>
                </a:solidFill>
                <a:latin typeface="Calibri"/>
              </a:rPr>
              <a:t>Earlier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38912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Decimal splitter, HTML tags counted as text, plural keyword match, “best practices” false flag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03520"/>
            <a:ext cx="10972800" cy="868680"/>
          </a:xfrm>
          <a:prstGeom prst="rect">
            <a:avLst/>
          </a:prstGeom>
          <a:solidFill>
            <a:srgbClr val="FFF1D6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349240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Read with care: test cases were written by the developers for their own rules, so perfect scores show the engine does what its rules say, not accuracy on real marketing copy. No real-user testing has been completed yet.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Known limitations and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4A5568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BrandSentinel · Round 3 · sample brand “Lumora” is fictional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Rules-based claim matching; free-form copy needs real-world testing.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No pixel-level image analysis; no PDF input.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No SSO, no encryption at rest, no load testing (SQLite, single server).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Not tested with a screen reader or real users.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English 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0B1F4D"/>
                </a:solidFill>
                <a:latin typeface="Calibri"/>
              </a:rPr>
              <a:t>Next: </a:t>
            </a:r>
            <a:r>
              <a:rPr sz="1800">
                <a:solidFill>
                  <a:srgbClr val="1A1A1A"/>
                </a:solidFill>
                <a:latin typeface="Calibri"/>
              </a:rPr>
              <a:t>run user sessions and publish the results; verify statistics at source.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0B1F4D"/>
                </a:solidFill>
                <a:latin typeface="Calibri"/>
              </a:rPr>
              <a:t>Then: </a:t>
            </a:r>
            <a:r>
              <a:rPr sz="1800">
                <a:solidFill>
                  <a:srgbClr val="1A1A1A"/>
                </a:solidFill>
                <a:latin typeface="Calibri"/>
              </a:rPr>
              <a:t>PDF input, image analysis, SSO, Docs/Word add-ins, CMS publishing hooks.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0B1F4D"/>
                </a:solidFill>
                <a:latin typeface="Calibri"/>
              </a:rPr>
              <a:t>Then: </a:t>
            </a:r>
            <a:r>
              <a:rPr sz="1800">
                <a:solidFill>
                  <a:srgbClr val="1A1A1A"/>
                </a:solidFill>
                <a:latin typeface="Calibri"/>
              </a:rPr>
              <a:t>optional retrieval-grounded AI for tone and claim extraction, with source-required findings and per-workspace controls.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0B1F4D"/>
                </a:solidFill>
                <a:latin typeface="Calibri"/>
              </a:rPr>
              <a:t>Then: </a:t>
            </a:r>
            <a:r>
              <a:rPr sz="1800">
                <a:solidFill>
                  <a:srgbClr val="1A1A1A"/>
                </a:solidFill>
                <a:latin typeface="Calibri"/>
              </a:rPr>
              <a:t>production stack (Postgres, object storage), encryption at rest, multilingual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